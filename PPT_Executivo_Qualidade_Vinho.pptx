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Vinhos</c:v>
                </c:pt>
              </c:strCache>
            </c:strRef>
          </c:tx>
          <c:dPt>
            <c:idx val="0"/>
            <c:spPr>
              <a:solidFill>
                <a:srgbClr val="A26769"/>
              </a:solidFill>
              <a:ln w="2540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6D2E46"/>
              </a:solidFill>
              <a:ln w="25400"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Baixa/Média Qualidade</c:v>
                </c:pt>
                <c:pt idx="1">
                  <c:v>Alta Qualidade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</c:v>
                </c:pt>
                <c:pt idx="1">
                  <c:v>14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5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CE2D0"/>
                </a:solidFill>
                <a:latin typeface="Calibri"/>
              </a:rPr>
              <a:t>APRESENTAÇÃO EXECUTIVA  |  CIÊNCIA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Prever a Qualidade do Vinho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Antes da Degustação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CE2D0"/>
                </a:solidFill>
                <a:latin typeface="Calibri"/>
              </a:rPr>
              <a:t>Como dados medidos direto na produção podem apontar, com antecedência,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ECE2D0"/>
                </a:solidFill>
                <a:latin typeface="Calibri"/>
              </a:rPr>
              <a:t>quais lotes têm mais chance de ser Alta Qualidade.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26769"/>
                </a:solidFill>
                <a:latin typeface="Calibri"/>
              </a:rPr>
              <a:t>Tech Challenge - Fase 2  |  POSTECH DTAT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26769"/>
                </a:solidFill>
                <a:latin typeface="Calibri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2320"/>
                </a:solidFill>
                <a:latin typeface="Cambria"/>
              </a:rPr>
              <a:t>Hoje, a qualidade do vinho depende de degustação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401568" cy="2148840"/>
          </a:xfrm>
          <a:prstGeom prst="roundRect">
            <a:avLst>
              <a:gd name="adj" fmla="val 6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A2320"/>
                </a:solidFill>
                <a:latin typeface="Cambria"/>
              </a:rPr>
              <a:t>Subjetivo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28529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25B"/>
                </a:solidFill>
                <a:latin typeface="Calibri"/>
              </a:rPr>
              <a:t>O resultado varia de especialista para especialista, mesmo lote a lote.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91640"/>
            <a:ext cx="3401568" cy="2148840"/>
          </a:xfrm>
          <a:prstGeom prst="roundRect">
            <a:avLst>
              <a:gd name="adj" fmla="val 6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90288" y="1965960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651760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A2320"/>
                </a:solidFill>
                <a:latin typeface="Cambria"/>
              </a:rPr>
              <a:t>Lento e caro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063240"/>
            <a:ext cx="28529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25B"/>
                </a:solidFill>
                <a:latin typeface="Calibri"/>
              </a:rPr>
              <a:t>Cada avaliação exige tempo de degustadores treinados.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1691640"/>
            <a:ext cx="3401568" cy="2148840"/>
          </a:xfrm>
          <a:prstGeom prst="roundRect">
            <a:avLst>
              <a:gd name="adj" fmla="val 6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66176" y="1965960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651760"/>
            <a:ext cx="28529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A2320"/>
                </a:solidFill>
                <a:latin typeface="Cambria"/>
              </a:rPr>
              <a:t>Difícil de escalar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6" y="3063240"/>
            <a:ext cx="28529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25B"/>
                </a:solidFill>
                <a:latin typeface="Calibri"/>
              </a:rPr>
              <a:t>Mais produção significa mais lotes esperando avaliação humana.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10908792" cy="1417320"/>
          </a:xfrm>
          <a:prstGeom prst="roundRect">
            <a:avLst>
              <a:gd name="adj" fmla="val 6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70832"/>
            <a:ext cx="10149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E se os próprios dados da produção pudessem apontar, antes da degustação,</a:t>
            </a:r>
          </a:p>
          <a:p>
            <a:pPr algn="l">
              <a:lnSpc>
                <a:spcPct val="120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quais lotes têm mais chance de ser Alta Qualidade?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25B"/>
                </a:solidFill>
                <a:latin typeface="Calibri"/>
              </a:rPr>
              <a:t>Classificação da Qualidade do Vinho com 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25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26769"/>
                </a:solidFill>
                <a:latin typeface="Calibri"/>
              </a:rPr>
              <a:t>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2320"/>
                </a:solidFill>
                <a:latin typeface="Cambria"/>
              </a:rPr>
              <a:t>O que tínhamos para treinar o modelo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4297680" cy="2011680"/>
          </a:xfrm>
          <a:prstGeom prst="roundRect">
            <a:avLst>
              <a:gd name="adj" fmla="val 6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6D2E46"/>
                </a:solidFill>
                <a:latin typeface="Cambria"/>
              </a:rPr>
              <a:t>1.143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9748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25B"/>
                </a:solidFill>
                <a:latin typeface="Calibri"/>
              </a:rPr>
              <a:t>amostras de vinho analisadas, cada uma com 11 indicadores físico-químicos medidos direto na produção — acidez, teor alcoólico, densidade, sulfatos e outros.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4297680" cy="2011680"/>
          </a:xfrm>
          <a:prstGeom prst="roundRect">
            <a:avLst>
              <a:gd name="adj" fmla="val 6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6052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D2E46"/>
                </a:solidFill>
                <a:latin typeface="Cambria"/>
              </a:rPr>
              <a:t>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00600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E625B"/>
                </a:solidFill>
                <a:latin typeface="Calibri"/>
              </a:rPr>
              <a:t>dados faltantes. A base chegou completa e organizada, pronta para ser explorada.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6035040" cy="4343400"/>
          </a:xfrm>
          <a:prstGeom prst="roundRect">
            <a:avLst>
              <a:gd name="adj" fmla="val 5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806440" y="2011680"/>
          <a:ext cx="3200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Oval 11"/>
          <p:cNvSpPr/>
          <p:nvPr/>
        </p:nvSpPr>
        <p:spPr>
          <a:xfrm>
            <a:off x="8869680" y="2926080"/>
            <a:ext cx="292608" cy="292608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2916936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2320"/>
                </a:solidFill>
                <a:latin typeface="Calibri"/>
              </a:rPr>
              <a:t>86% Baixa/Média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0" y="3474720"/>
            <a:ext cx="292608" cy="29260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3465576"/>
            <a:ext cx="21945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2320"/>
                </a:solidFill>
                <a:latin typeface="Calibri"/>
              </a:rPr>
              <a:t>14% Alta Qualidade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206240"/>
            <a:ext cx="2834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E625B"/>
                </a:solidFill>
                <a:latin typeface="Calibri"/>
              </a:rPr>
              <a:t>Classes desbalanceadas: poucos exemplos de Alta Qualidade para o modelo aprender a reconhecer.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25B"/>
                </a:solidFill>
                <a:latin typeface="Calibri"/>
              </a:rPr>
              <a:t>Classificação da Qualidade do Vinho com 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25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26769"/>
                </a:solidFill>
                <a:latin typeface="Calibri"/>
              </a:rPr>
              <a:t>COMO RESOLVEMOS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2320"/>
                </a:solidFill>
                <a:latin typeface="Cambria"/>
              </a:rPr>
              <a:t>O caminho até a resposta, em 4 passos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23060" y="2240280"/>
            <a:ext cx="640080" cy="64008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154680"/>
            <a:ext cx="2203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A2320"/>
                </a:solidFill>
                <a:latin typeface="Cambria"/>
              </a:rPr>
              <a:t>Entender 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Definir o que é um vinho de "Alta Qualidade" (nota de especialista maior ou igual a 7).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4408" y="329184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192024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0268" y="2240280"/>
            <a:ext cx="640080" cy="64008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3154680"/>
            <a:ext cx="2203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A2320"/>
                </a:solidFill>
                <a:latin typeface="Cambria"/>
              </a:rPr>
              <a:t>Explorar os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37490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Olhar distribuições, relações entre variáveis e o desbalanceamento das classes.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1616" y="329184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92024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37476" y="2240280"/>
            <a:ext cx="640080" cy="64008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154680"/>
            <a:ext cx="2203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A2320"/>
                </a:solidFill>
                <a:latin typeface="Cambria"/>
              </a:rPr>
              <a:t>Preparar os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7490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Padronizar as medidas e criar 2 indicadores extras a partir dos dados originais.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3291840"/>
            <a:ext cx="182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A26769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1704" y="192024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44684" y="2240280"/>
            <a:ext cx="640080" cy="64008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2872" y="3154680"/>
            <a:ext cx="22037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A2320"/>
                </a:solidFill>
                <a:latin typeface="Cambria"/>
              </a:rPr>
              <a:t>Treinar e validar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0304" y="3749040"/>
            <a:ext cx="21488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Testar 2 modelos preditivos com validação cruzada — o teste mais confiável disponível.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25B"/>
                </a:solidFill>
                <a:latin typeface="Calibri"/>
              </a:rPr>
              <a:t>Classificação da Qualidade do Vinho com Machine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25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26769"/>
                </a:solidFill>
                <a:latin typeface="Calibri"/>
              </a:rPr>
              <a:t>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2320"/>
                </a:solidFill>
                <a:latin typeface="Cambria"/>
              </a:rPr>
              <a:t>Dois modelos preditivos foram testados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257800" cy="3931920"/>
          </a:xfrm>
          <a:prstGeom prst="roundRect">
            <a:avLst>
              <a:gd name="adj" fmla="val 5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A2320"/>
                </a:solidFill>
                <a:latin typeface="Cambria"/>
              </a:rPr>
              <a:t>Regressão Logística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526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0" b="1" i="0">
                <a:solidFill>
                  <a:srgbClr val="6D2E46"/>
                </a:solidFill>
                <a:latin typeface="Cambria"/>
              </a:rPr>
              <a:t>77,8%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79476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6E625B"/>
                </a:solidFill>
                <a:latin typeface="Calibri"/>
              </a:rPr>
              <a:t>acurácia média (validação cruzada)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4526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E625B"/>
                </a:solidFill>
                <a:latin typeface="Calibri"/>
              </a:rPr>
              <a:t>Modelo mais simples de explicar. Acerta o resultado geral em 78% dos casos.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257800" cy="3931920"/>
          </a:xfrm>
          <a:prstGeom prst="roundRect">
            <a:avLst>
              <a:gd name="adj" fmla="val 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057400"/>
            <a:ext cx="4526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mbria"/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526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800" b="1" i="0">
                <a:solidFill>
                  <a:srgbClr val="FFFFFF"/>
                </a:solidFill>
                <a:latin typeface="Cambria"/>
              </a:rPr>
              <a:t>91,5%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79476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CE2D0"/>
                </a:solidFill>
                <a:latin typeface="Calibri"/>
              </a:rPr>
              <a:t>acurácia média (validação cruzada)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343400"/>
            <a:ext cx="45262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CE2D0"/>
                </a:solidFill>
                <a:latin typeface="Calibri"/>
              </a:rPr>
              <a:t>Modelo mais complexo, com melhor acerto geral: 91,5% dos casos.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E625B"/>
                </a:solidFill>
                <a:latin typeface="Calibri"/>
              </a:rPr>
              <a:t>Números medidos por validação cruzada em 5 grupos — o resultado não depende de uma única divisão de teste.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25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26769"/>
                </a:solidFill>
                <a:latin typeface="Calibri"/>
              </a:rPr>
              <a:t>O DETALHE QUE IMPORTA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2320"/>
                </a:solidFill>
                <a:latin typeface="Cambria"/>
              </a:rPr>
              <a:t>Acurácia geral não conta a história toda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6E625B"/>
                </a:solidFill>
                <a:latin typeface="Calibri"/>
              </a:rPr>
              <a:t>Quando o assunto é achar vinhos de Alta Qualidade, o que muda entre os dois modelos é o tipo de erro que cada um comete.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57800" cy="3520440"/>
          </a:xfrm>
          <a:prstGeom prst="roundRect">
            <a:avLst>
              <a:gd name="adj" fmla="val 5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526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A2320"/>
                </a:solidFill>
                <a:latin typeface="Cambria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D2E46"/>
                </a:solidFill>
                <a:latin typeface="Cambria"/>
              </a:rPr>
              <a:t>82,5%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de acerto quando o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modelo diz "Alta Qualidade"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0175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A26769"/>
                </a:solidFill>
                <a:latin typeface="Cambria"/>
              </a:rPr>
              <a:t>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79476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dos vinhos realmente bons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são de fato encontrados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572000"/>
            <a:ext cx="4526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709160"/>
            <a:ext cx="4069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320"/>
                </a:solidFill>
                <a:latin typeface="Calibri"/>
              </a:rPr>
              <a:t>Ideal quando agir sobre a indicação tem custo alto e um alarme falso pesa caro.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331720"/>
            <a:ext cx="5257800" cy="3520440"/>
          </a:xfrm>
          <a:prstGeom prst="roundRect">
            <a:avLst>
              <a:gd name="adj" fmla="val 5000"/>
            </a:avLst>
          </a:prstGeom>
          <a:solidFill>
            <a:srgbClr val="F7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560320"/>
            <a:ext cx="4526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A2320"/>
                </a:solidFill>
                <a:latin typeface="Cambria"/>
              </a:rPr>
              <a:t>Regressão Logística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01752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6D2E46"/>
                </a:solidFill>
                <a:latin typeface="Cambria"/>
              </a:rPr>
              <a:t>79,9%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94760"/>
            <a:ext cx="2377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dos vinhos realmente bons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são encontrados pelo 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017520"/>
            <a:ext cx="2103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A26769"/>
                </a:solidFill>
                <a:latin typeface="Cambria"/>
              </a:rPr>
              <a:t>36,6%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794760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de acerto quando o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E625B"/>
                </a:solidFill>
                <a:latin typeface="Calibri"/>
              </a:rPr>
              <a:t>modelo diz "Alta Qualidade"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4572000"/>
            <a:ext cx="45262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709160"/>
            <a:ext cx="40690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A2320"/>
                </a:solidFill>
                <a:latin typeface="Calibri"/>
              </a:rPr>
              <a:t>Ideal para triagem ampla: não perder vinho bom, com checagem humana depois.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25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26769"/>
                </a:solidFill>
                <a:latin typeface="Calibri"/>
              </a:rPr>
              <a:t>RECOMENDAÇÃO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Qual modelo escolher depende do erro que custa mais caro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57800" cy="3749039"/>
          </a:xfrm>
          <a:prstGeom prst="roundRect">
            <a:avLst>
              <a:gd name="adj" fmla="val 6000"/>
            </a:avLst>
          </a:prstGeom>
          <a:solidFill>
            <a:srgbClr val="5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CE2D0"/>
                </a:solidFill>
                <a:latin typeface="Cambria"/>
              </a:rPr>
              <a:t>Preciso de triagem ampla: nenhum lote bom pode passar batido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063240"/>
            <a:ext cx="4526280" cy="685800"/>
          </a:xfrm>
          <a:prstGeom prst="roundRect">
            <a:avLst>
              <a:gd name="adj" fmla="val 1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526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Regressão Logística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77639"/>
            <a:ext cx="4526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ECE2D0"/>
                </a:solidFill>
                <a:latin typeface="Calibri"/>
              </a:rPr>
              <a:t>Encontra quase 8 em cada 10 vinhos realmente bons. Os alarmes falsos passam por checagem humana depois.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28800"/>
            <a:ext cx="5257800" cy="3749039"/>
          </a:xfrm>
          <a:prstGeom prst="roundRect">
            <a:avLst>
              <a:gd name="adj" fmla="val 6000"/>
            </a:avLst>
          </a:prstGeom>
          <a:solidFill>
            <a:srgbClr val="5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CE2D0"/>
                </a:solidFill>
                <a:latin typeface="Cambria"/>
              </a:rPr>
              <a:t>Preciso de confiança alta antes de agir sobre a indicação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063240"/>
            <a:ext cx="4526280" cy="685800"/>
          </a:xfrm>
          <a:prstGeom prst="roundRect">
            <a:avLst>
              <a:gd name="adj" fmla="val 1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063240"/>
            <a:ext cx="4526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mbria"/>
              </a:rP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977639"/>
            <a:ext cx="4526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ECE2D0"/>
                </a:solidFill>
                <a:latin typeface="Calibri"/>
              </a:rPr>
              <a:t>Quando aponta "Alta Qualidade", acerta 8 em cada 10 vezes. Em troca, deixa passar mais lotes bons.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ECE2D0"/>
                </a:solidFill>
                <a:latin typeface="Calibri"/>
              </a:rPr>
              <a:t>Nos dois casos, o modelo funciona como apoio à decisão — não substitui o especialista.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ECE2D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26769"/>
                </a:solidFill>
                <a:latin typeface="Calibri"/>
              </a:rPr>
              <a:t>OS ACHADOS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2320"/>
                </a:solidFill>
                <a:latin typeface="Cambria"/>
              </a:rPr>
              <a:t>O que mais influencia a qualidade do vinho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920240"/>
            <a:ext cx="777240" cy="7772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7830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A2320"/>
                </a:solidFill>
                <a:latin typeface="Cambria"/>
              </a:rPr>
              <a:t>Teor alcoólico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755648"/>
            <a:ext cx="6949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E625B"/>
                </a:solidFill>
                <a:latin typeface="Calibri"/>
              </a:rPr>
              <a:t>Quanto maior o teor alcoólico, maior a chance de o vinho ser Alta Qualidade. Fator mais forte nos dois modelos.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35808"/>
            <a:ext cx="10908792" cy="1270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3337560"/>
            <a:ext cx="777240" cy="777240"/>
          </a:xfrm>
          <a:prstGeom prst="ellipse">
            <a:avLst/>
          </a:prstGeom>
          <a:solidFill>
            <a:srgbClr val="A26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20040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A2320"/>
                </a:solidFill>
                <a:latin typeface="Cambria"/>
              </a:rPr>
              <a:t>Acidez volátil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172968"/>
            <a:ext cx="6949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E625B"/>
                </a:solidFill>
                <a:latin typeface="Calibri"/>
              </a:rPr>
              <a:t>Acidez volátil alta é um indício químico direto de defeito de produção (gosto de vinagre) — reduz a qualidade.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53128"/>
            <a:ext cx="10908792" cy="12700"/>
          </a:xfrm>
          <a:prstGeom prst="rect">
            <a:avLst/>
          </a:prstGeom>
          <a:solidFill>
            <a:srgbClr val="ECE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4754880"/>
            <a:ext cx="777240" cy="777240"/>
          </a:xfrm>
          <a:prstGeom prst="ellipse">
            <a:avLst/>
          </a:prstGeom>
          <a:solidFill>
            <a:srgbClr val="6E62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61772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A2320"/>
                </a:solidFill>
                <a:latin typeface="Cambria"/>
              </a:rPr>
              <a:t>Sulfatos e SO2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590288"/>
            <a:ext cx="69494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6E625B"/>
                </a:solidFill>
                <a:latin typeface="Calibri"/>
              </a:rPr>
              <a:t>Sulfatos e o equilíbrio entre dióxido de enxofre livre e total têm papel relevante na conservação do vinho.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E625B"/>
                </a:solidFill>
                <a:latin typeface="Calibri"/>
              </a:rPr>
              <a:t>Achado consistente: aparece nos dois modelos testados, com metodologias diferentes.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25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A26769"/>
                </a:solidFill>
                <a:latin typeface="Calibri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04088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A2320"/>
                </a:solidFill>
                <a:latin typeface="Cambria"/>
              </a:rPr>
              <a:t>Como levar isso para a produção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A2320"/>
                </a:solidFill>
                <a:latin typeface="Calibri"/>
              </a:rPr>
              <a:t>Validar o modelo com dados de novas safras/lotes antes de confiar 100% no resultado.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880360"/>
            <a:ext cx="548640" cy="5486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862072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A2320"/>
                </a:solidFill>
                <a:latin typeface="Calibri"/>
              </a:rPr>
              <a:t>Ajustar o ponto de corte do modelo conforme o apetite ao risco do negócio (mais triagem vs. mais precisão).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13632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A2320"/>
                </a:solidFill>
                <a:latin typeface="Calibri"/>
              </a:rPr>
              <a:t>Monitorar teor alcoólico, acidez volátil e sulfatos na produção como alertas antecipados de qualidade.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4983480"/>
            <a:ext cx="548640" cy="5486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965192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A2320"/>
                </a:solidFill>
                <a:latin typeface="Calibri"/>
              </a:rPr>
              <a:t>Usar o modelo como apoio à degustação, não substituto — o ganho está na velocidade e no direcionamento de esforço.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E625B"/>
                </a:solidFill>
                <a:latin typeface="Calibri"/>
              </a:rPr>
              <a:t>Classificação da Qualidade do Vinho com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E625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3291840"/>
            <a:ext cx="4206240" cy="42062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1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9144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CE2D0"/>
                </a:solidFill>
                <a:latin typeface="Calibri"/>
              </a:rPr>
              <a:t>Obrigado(a) pela atenção.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A26769"/>
                </a:solidFill>
                <a:latin typeface="Calibri"/>
              </a:rPr>
              <a:t>Grupo Tech Challenge - Fase 2  |  POSTECH DTAT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856232202236419CF9C71CE5E8849F" ma:contentTypeVersion="10" ma:contentTypeDescription="Create a new document." ma:contentTypeScope="" ma:versionID="3fd09a1456ca10354b5c44b38fb14e46">
  <xsd:schema xmlns:xsd="http://www.w3.org/2001/XMLSchema" xmlns:xs="http://www.w3.org/2001/XMLSchema" xmlns:p="http://schemas.microsoft.com/office/2006/metadata/properties" xmlns:ns2="420355e0-a982-4ffa-9e0a-d1a2fcf636b0" targetNamespace="http://schemas.microsoft.com/office/2006/metadata/properties" ma:root="true" ma:fieldsID="e4e6c227fac001bf758e29ad0599b160" ns2:_="">
    <xsd:import namespace="420355e0-a982-4ffa-9e0a-d1a2fcf636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55e0-a982-4ffa-9e0a-d1a2fcf636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c5108a4-8a36-43d3-9d3c-e88c5c8bdb3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20355e0-a982-4ffa-9e0a-d1a2fcf636b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A1AF5EE-A6A6-4DFC-8F08-B660D8E5F382}"/>
</file>

<file path=customXml/itemProps2.xml><?xml version="1.0" encoding="utf-8"?>
<ds:datastoreItem xmlns:ds="http://schemas.openxmlformats.org/officeDocument/2006/customXml" ds:itemID="{439A1C4A-C3C2-4B3C-BF6C-4BB540BD071F}"/>
</file>

<file path=customXml/itemProps3.xml><?xml version="1.0" encoding="utf-8"?>
<ds:datastoreItem xmlns:ds="http://schemas.openxmlformats.org/officeDocument/2006/customXml" ds:itemID="{3ADA8999-C01B-403F-83C8-E3E9EBA4F46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0x01010013856232202236419CF9C71CE5E8849F</vt:lpwstr>
  </property>
</Properties>
</file>